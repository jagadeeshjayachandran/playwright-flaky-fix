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12801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1A365D"/>
                </a:solidFill>
                <a:latin typeface="Calibri"/>
              </a:rPr>
              <a:t>10 Categories of Playwright Flakiness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2B6CB0"/>
                </a:solidFill>
                <a:latin typeface="Calibri"/>
              </a:rPr>
              <a:t>A stress test of the playwright-test-healer agent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520440"/>
            <a:ext cx="2286000" cy="36576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The setup: 10 deliberately broken tests, one per category.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The question: does the Healer fix the root cause, or reach for a band-aid?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6634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1F2933"/>
                </a:solidFill>
                <a:latin typeface="Calibri"/>
              </a:rPr>
              <a:t>The honest answer: mostly the former. Sometimes the latter. You have to know which.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6035040"/>
            <a:ext cx="4846320" cy="365760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200" b="1" i="0">
                <a:solidFill>
                  <a:srgbClr val="2B6CB0"/>
                </a:solidFill>
                <a:latin typeface="Calibri"/>
              </a:rPr>
              <a:t>Episode 2  ·  Playwright 1.56  ·  Claude Sonnet 4.6 + MCP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A365D"/>
                </a:solidFill>
                <a:latin typeface="Calibri"/>
              </a:rPr>
              <a:t>The Subject Under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2B6CB0"/>
                </a:solidFill>
                <a:latin typeface="Calibri"/>
              </a:rPr>
              <a:t>A single-page employee dashboard  (src/dashboard.html)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554480"/>
          <a:ext cx="1124712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8000"/>
                <a:gridCol w="4389120"/>
              </a:tblGrid>
              <a:tr h="448887">
                <a:tc>
                  <a:txBody>
                    <a:bodyPr lIns="109728" rIns="73152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Feature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 lIns="109728" rIns="73152"/>
                    <a:lstStyle/>
                    <a:p>
                      <a:r>
                        <a:rPr sz="1600" b="1" i="0">
                          <a:solidFill>
                            <a:srgbClr val="FFFFFF"/>
                          </a:solidFill>
                          <a:latin typeface="Calibri"/>
                        </a:rPr>
                        <a:t>Hidden flake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</a:tr>
              <a:tr h="448887">
                <a:tc>
                  <a:txBody>
                    <a:bodyPr lIns="109728" rIns="73152" tIns="36576" bIns="36576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User list loads via two async fetches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73152" tIns="36576" bIns="36576"/>
                    <a:lstStyle/>
                    <a:p>
                      <a:r>
                        <a:rPr sz="1400" b="1" i="0">
                          <a:solidFill>
                            <a:srgbClr val="2B6CB0"/>
                          </a:solidFill>
                          <a:latin typeface="Calibri"/>
                        </a:rPr>
                        <a:t>Race condition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lIns="109728" rIns="73152" tIns="36576" bIns="36576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Search re-renders rows with index-based IDs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109728" rIns="73152" tIns="36576" bIns="36576"/>
                    <a:lstStyle/>
                    <a:p>
                      <a:r>
                        <a:rPr sz="1400" b="1" i="0">
                          <a:solidFill>
                            <a:srgbClr val="2B6CB0"/>
                          </a:solidFill>
                          <a:latin typeface="Calibri"/>
                        </a:rPr>
                        <a:t>Dynamic locator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48887">
                <a:tc>
                  <a:txBody>
                    <a:bodyPr lIns="109728" rIns="73152" tIns="36576" bIns="36576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Second fetch jitter: 500–1000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73152" tIns="36576" bIns="36576"/>
                    <a:lstStyle/>
                    <a:p>
                      <a:r>
                        <a:rPr sz="1400" b="1" i="0">
                          <a:solidFill>
                            <a:srgbClr val="2B6CB0"/>
                          </a:solidFill>
                          <a:latin typeface="Calibri"/>
                        </a:rPr>
                        <a:t>Network jitter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lIns="109728" rIns="73152" tIns="36576" bIns="36576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Session expires at midnight tonight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109728" rIns="73152" tIns="36576" bIns="36576"/>
                    <a:lstStyle/>
                    <a:p>
                      <a:r>
                        <a:rPr sz="1400" b="1" i="0">
                          <a:solidFill>
                            <a:srgbClr val="2B6CB0"/>
                          </a:solidFill>
                          <a:latin typeface="Calibri"/>
                        </a:rPr>
                        <a:t>Time-based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48887">
                <a:tc>
                  <a:txBody>
                    <a:bodyPr lIns="109728" rIns="73152" tIns="36576" bIns="36576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Hover-revealed Edit/Delete; auto-refresh every 1.5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73152" tIns="36576" bIns="36576"/>
                    <a:lstStyle/>
                    <a:p>
                      <a:r>
                        <a:rPr sz="1400" b="1" i="0">
                          <a:solidFill>
                            <a:srgbClr val="2B6CB0"/>
                          </a:solidFill>
                          <a:latin typeface="Calibri"/>
                        </a:rPr>
                        <a:t>Hover state lost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lIns="109728" rIns="73152" tIns="36576" bIns="36576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Modal handler attaches 2 s after page load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109728" rIns="73152" tIns="36576" bIns="36576"/>
                    <a:lstStyle/>
                    <a:p>
                      <a:r>
                        <a:rPr sz="1400" b="1" i="0">
                          <a:solidFill>
                            <a:srgbClr val="2B6CB0"/>
                          </a:solidFill>
                          <a:latin typeface="Calibri"/>
                        </a:rPr>
                        <a:t>Modal timing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48887">
                <a:tc>
                  <a:txBody>
                    <a:bodyPr lIns="109728" rIns="73152" tIns="36576" bIns="36576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Stat cards have a continuous CSS pulse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73152" tIns="36576" bIns="36576"/>
                    <a:lstStyle/>
                    <a:p>
                      <a:r>
                        <a:rPr sz="1400" b="1" i="0">
                          <a:solidFill>
                            <a:srgbClr val="2B6CB0"/>
                          </a:solidFill>
                          <a:latin typeface="Calibri"/>
                        </a:rPr>
                        <a:t>Animation mid-flight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87">
                <a:tc>
                  <a:txBody>
                    <a:bodyPr lIns="109728" rIns="73152" tIns="36576" bIns="36576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Filter sidebar display: none below 800 px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109728" rIns="73152" tIns="36576" bIns="36576"/>
                    <a:lstStyle/>
                    <a:p>
                      <a:r>
                        <a:rPr sz="1400" b="1" i="0">
                          <a:solidFill>
                            <a:srgbClr val="2B6CB0"/>
                          </a:solidFill>
                          <a:latin typeface="Calibri"/>
                        </a:rPr>
                        <a:t>Viewport-dependent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  <a:tr h="448887">
                <a:tc>
                  <a:txBody>
                    <a:bodyPr lIns="109728" rIns="73152" tIns="36576" bIns="36576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Analytics iframe loads after 2.5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lIns="109728" rIns="73152" tIns="36576" bIns="36576"/>
                    <a:lstStyle/>
                    <a:p>
                      <a:r>
                        <a:rPr sz="1400" b="1" i="0">
                          <a:solidFill>
                            <a:srgbClr val="2B6CB0"/>
                          </a:solidFill>
                          <a:latin typeface="Calibri"/>
                        </a:rPr>
                        <a:t>Iframe load timing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8890">
                <a:tc>
                  <a:txBody>
                    <a:bodyPr lIns="109728" rIns="73152" tIns="36576" bIns="36576"/>
                    <a:lstStyle/>
                    <a:p>
                      <a:r>
                        <a:rPr sz="1400" b="0" i="0">
                          <a:solidFill>
                            <a:srgbClr val="1F2933"/>
                          </a:solidFill>
                          <a:latin typeface="Calibri"/>
                        </a:rPr>
                        <a:t>Session token expires 5 s after login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lIns="109728" rIns="73152" tIns="36576" bIns="36576"/>
                    <a:lstStyle/>
                    <a:p>
                      <a:r>
                        <a:rPr sz="1400" b="1" i="0">
                          <a:solidFill>
                            <a:srgbClr val="2B6CB0"/>
                          </a:solidFill>
                          <a:latin typeface="Calibri"/>
                        </a:rPr>
                        <a:t>Auth flake</a:t>
                      </a:r>
                    </a:p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365D"/>
                </a:solidFill>
                <a:latin typeface="Calibri"/>
              </a:rPr>
              <a:t>Test 01 — Race Condition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84080" y="4114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200" b="1" i="0">
                <a:solidFill>
                  <a:srgbClr val="2B6CB0"/>
                </a:solidFill>
                <a:latin typeface="Calibri"/>
              </a:rPr>
              <a:t>Category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Read department after list renders.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Test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5486400" cy="1261872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const firstRow = page.locator('#user-list .user-row').first();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await firstRow.waitFor();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const meta = await firstRow.locator('.meta').textContent();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expect(meta).toContain('Engineering');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0390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App source  ·  src/dashboard.js:64-78  (loadUsers)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23944"/>
            <a:ext cx="5486400" cy="2048256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async function loadUsers() {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const users = await fetchJSON('/api/users.json');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renderList();          // rows visible NOW (names only)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await new Promise(r =&gt; setTimeout(r, 500+random()*500));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const details = await fetchJSON('/api/users-details.json');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renderList();          // department arrives HERE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Bug — what's actually wrong?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Row appears after fetch 1 (names only). Department arrives 500–1000 ms later from fetch 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88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3030"/>
                </a:solidFill>
                <a:latin typeface="Calibri"/>
              </a:rPr>
              <a:t>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108960"/>
            <a:ext cx="5486400" cy="77724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53030"/>
                </a:solidFill>
                <a:latin typeface="Consolas"/>
              </a:rPr>
              <a:t>Expected substring: "Engineering"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53030"/>
                </a:solidFill>
                <a:latin typeface="Consolas"/>
              </a:rPr>
              <a:t>Received string:    "alice.chen@example.com"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9776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855A"/>
                </a:solidFill>
                <a:latin typeface="Calibri"/>
              </a:rPr>
              <a:t>Root-cause 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297680"/>
            <a:ext cx="5486400" cy="54864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F855A"/>
                </a:solidFill>
                <a:latin typeface="Consolas"/>
              </a:rPr>
              <a:t>await page.waitForResponse('**/api/users-details.json')  // before reading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9834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3030"/>
                </a:solidFill>
                <a:latin typeface="Calibri"/>
              </a:rPr>
              <a:t>Band-aid to push back 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5303520"/>
            <a:ext cx="5486400" cy="50292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300" b="0" i="0" strike="sngStrike">
                <a:solidFill>
                  <a:srgbClr val="C53030"/>
                </a:solidFill>
                <a:latin typeface="Consolas"/>
              </a:rPr>
              <a:t>waitForTimeout(2000)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0" grpId="0"/>
      <p:bldP spid="11" grpId="0"/>
      <p:bldP spid="8" grpId="0"/>
      <p:bldP spid="9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365D"/>
                </a:solidFill>
                <a:latin typeface="Calibri"/>
              </a:rPr>
              <a:t>Test 02 — Dynamic Locator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84080" y="4114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200" b="1" i="0">
                <a:solidFill>
                  <a:srgbClr val="2B6CB0"/>
                </a:solidFill>
                <a:latin typeface="Calibri"/>
              </a:rPr>
              <a:t>Category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Click row #3 (Dan Kumar) after a search.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Test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5486400" cy="1188720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await page.fill('#search', 'dan');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const targetRow = page.locator('#row-3');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await targetRow.scrollIntoViewIfNeeded();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3075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App source  ·  src/dashboard.js:98-105  (renderList)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50792"/>
            <a:ext cx="5486400" cy="1554480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list.innerHTML = items.map((u, idx) =&gt; {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return '&lt;li class="user-row" id="row-' + idx + '" ...';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       //                              ^^^^^^^^^^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       //  ID = render position, not user identity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}).join('');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Bug — what's actually wrong?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Row IDs are render-index-based. After filtering, only Dan remains — at #row-0. #row-3 no longer exists.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88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3030"/>
                </a:solidFill>
                <a:latin typeface="Calibri"/>
              </a:rPr>
              <a:t>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108960"/>
            <a:ext cx="5486400" cy="54864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53030"/>
                </a:solidFill>
                <a:latin typeface="Consolas"/>
              </a:rPr>
              <a:t>locator.scrollIntoViewIfNeeded: Test timeout of 30000ms exceeded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749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855A"/>
                </a:solidFill>
                <a:latin typeface="Calibri"/>
              </a:rPr>
              <a:t>Root-cause 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069080"/>
            <a:ext cx="5486400" cy="54864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F855A"/>
                </a:solidFill>
                <a:latin typeface="Consolas"/>
              </a:rPr>
              <a:t>const targetRow = page.locator('.user-row', { hasText: 'Dan Kumar' });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7548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3030"/>
                </a:solidFill>
                <a:latin typeface="Calibri"/>
              </a:rPr>
              <a:t>Band-aid to push back 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5074920"/>
            <a:ext cx="5486400" cy="50292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300" b="0" i="0" strike="sngStrike">
                <a:solidFill>
                  <a:srgbClr val="C53030"/>
                </a:solidFill>
                <a:latin typeface="Consolas"/>
              </a:rPr>
              <a:t>Renumber to #row-0 (breaks the next time data changes)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0" grpId="0"/>
      <p:bldP spid="11" grpId="0"/>
      <p:bldP spid="8" grpId="0"/>
      <p:bldP spid="9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365D"/>
                </a:solidFill>
                <a:latin typeface="Calibri"/>
              </a:rPr>
              <a:t>Test 03 — Network Jitter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84080" y="4114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200" b="1" i="0">
                <a:solidFill>
                  <a:srgbClr val="2B6CB0"/>
                </a:solidFill>
                <a:latin typeface="Calibri"/>
              </a:rPr>
              <a:t>Category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Enforce a 100 ms response-time SLO.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Test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5486400" cy="1261872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const start = Date.now();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await page.goto('/dashboard.html');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await page.waitForResponse('**/api/users-details.json');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expect(Date.now() - start).toBeLessThan(100);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803904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App source  ·  src/dashboard.js:72-74  (loadUsers)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123944"/>
            <a:ext cx="5486400" cy="1307592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// jitter applied BEFORE the fetch — the endpoint itself is fast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const jitter = 500 + Math.floor(Math.random() * 500);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await new Promise((r) =&gt; setTimeout(r, jitter));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const details = await fetchJSON('/api/users-details.json');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Bug — what's actually wrong?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Measures "goto to response received" — includes the app's 500 ms scheduled delay. Endpoint itself is fast.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88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3030"/>
                </a:solidFill>
                <a:latin typeface="Calibri"/>
              </a:rPr>
              <a:t>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108960"/>
            <a:ext cx="5486400" cy="54864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53030"/>
                </a:solidFill>
                <a:latin typeface="Consolas"/>
              </a:rPr>
              <a:t>Expected: &lt; 100 · Received: 531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749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855A"/>
                </a:solidFill>
                <a:latin typeface="Calibri"/>
              </a:rPr>
              <a:t>Root-cause 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069080"/>
            <a:ext cx="5486400" cy="105156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F855A"/>
                </a:solidFill>
                <a:latin typeface="Consolas"/>
              </a:rPr>
              <a:t>// Move SLO to observability, or measure actual server time: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F855A"/>
                </a:solidFill>
                <a:latin typeface="Consolas"/>
              </a:rPr>
              <a:t>const t = response.request().timing();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F855A"/>
                </a:solidFill>
                <a:latin typeface="Consolas"/>
              </a:rPr>
              <a:t>expect(t.responseEnd - t.requestStart).toBeLessThan(100);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257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3030"/>
                </a:solidFill>
                <a:latin typeface="Calibri"/>
              </a:rPr>
              <a:t>Band-aid to push back 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5577840"/>
            <a:ext cx="5486400" cy="50292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300" b="0" i="0" strike="sngStrike">
                <a:solidFill>
                  <a:srgbClr val="C53030"/>
                </a:solidFill>
                <a:latin typeface="Consolas"/>
              </a:rPr>
              <a:t>Bump the threshold until it passes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0" grpId="0"/>
      <p:bldP spid="11" grpId="0"/>
      <p:bldP spid="8" grpId="0"/>
      <p:bldP spid="9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365D"/>
                </a:solidFill>
                <a:latin typeface="Calibri"/>
              </a:rPr>
              <a:t>Test 04 — Time-Based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84080" y="4114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200" b="1" i="0">
                <a:solidFill>
                  <a:srgbClr val="2B6CB0"/>
                </a:solidFill>
                <a:latin typeface="Calibri"/>
              </a:rPr>
              <a:t>Category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Fresh login should have ~24 hours of session left.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Test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5486400" cy="1188720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const expiresAt = await page.evaluate(() =&gt; window.SESSION_EXPIRES_AT);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expect(expiresAt - Date.now()).toBeGreaterThan(23 * 60 * 60 * 1000);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3075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App source  ·  src/dashboard.js:20-26  (initSession)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50792"/>
            <a:ext cx="5486400" cy="1801368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function initSession() {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// ...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// Bug: midnight tonight, NOT now + 24h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window.SESSION_EXPIRES_AT = new Date()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  .setHours(23, 59, 59, 999);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Bug — what's actually wrong?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App sets expiry to midnight tonight, not "now + 24h". Remaining time depends on wall clock.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88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3030"/>
                </a:solidFill>
                <a:latin typeface="Calibri"/>
              </a:rPr>
              <a:t>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108960"/>
            <a:ext cx="5486400" cy="105156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53030"/>
                </a:solidFill>
                <a:latin typeface="Consolas"/>
              </a:rPr>
              <a:t>12:30 AM  -&gt;  ~23.5 h   PASS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53030"/>
                </a:solidFill>
                <a:latin typeface="Consolas"/>
              </a:rPr>
              <a:t>09:00 AM  -&gt;  ~15 h     FAIL</a:t>
            </a:r>
          </a:p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53030"/>
                </a:solidFill>
                <a:latin typeface="Consolas"/>
              </a:rPr>
              <a:t>05:00 PM  -&gt;  ~7 h      FAIL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2519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855A"/>
                </a:solidFill>
                <a:latin typeface="Calibri"/>
              </a:rPr>
              <a:t>Root-cause 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572000"/>
            <a:ext cx="5486400" cy="54864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F855A"/>
                </a:solidFill>
                <a:latin typeface="Consolas"/>
              </a:rPr>
              <a:t>Fix the app (Date.now() + 24*3600*1000) OR freeze time: page.clock.install()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257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3030"/>
                </a:solidFill>
                <a:latin typeface="Calibri"/>
              </a:rPr>
              <a:t>Band-aid to push back 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5577840"/>
            <a:ext cx="5486400" cy="50292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300" b="0" i="0" strike="sngStrike">
                <a:solidFill>
                  <a:srgbClr val="C53030"/>
                </a:solidFill>
                <a:latin typeface="Consolas"/>
              </a:rPr>
              <a:t>Run the suite only at midnight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0" grpId="0"/>
      <p:bldP spid="11" grpId="0"/>
      <p:bldP spid="8" grpId="0"/>
      <p:bldP spid="9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365D"/>
                </a:solidFill>
                <a:latin typeface="Calibri"/>
              </a:rPr>
              <a:t>Test 05 — Hover State Lost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84080" y="4114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200" b="1" i="0">
                <a:solidFill>
                  <a:srgbClr val="2B6CB0"/>
                </a:solidFill>
                <a:latin typeface="Calibri"/>
              </a:rPr>
              <a:t>Category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Hover row, click Edit.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Test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5486400" cy="1188720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await firstRow.hover();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await page.waitForTimeout(2_000);   // "screenshot for bug report"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await firstRow.locator('.action-edit').click();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3075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App source  ·  src/dashboard.js:5, 232-237  (startAutoRefresh)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50792"/>
            <a:ext cx="5486400" cy="1801368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const REFRESH_INTERVAL_MS = 1_500;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// ...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function startAutoRefresh() {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setInterval(() =&gt; renderList(), REFRESH_INTERVAL_MS);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// renderList() rebuilds every &lt;li&gt; — fresh DOM = no .is-hovered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Bug — what's actually wrong?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Auto-refresh re-renders the row every 1.5 s. New row has no .is-hovered class. Menu is display: none. Click waits 30 s for visibility.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88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3030"/>
                </a:solidFill>
                <a:latin typeface="Calibri"/>
              </a:rPr>
              <a:t>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108960"/>
            <a:ext cx="5486400" cy="54864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53030"/>
                </a:solidFill>
                <a:latin typeface="Consolas"/>
              </a:rPr>
              <a:t>locator.click: Test timeout of 30000ms exceeded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749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855A"/>
                </a:solidFill>
                <a:latin typeface="Calibri"/>
              </a:rPr>
              <a:t>Root-cause 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069080"/>
            <a:ext cx="5486400" cy="54864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F855A"/>
                </a:solidFill>
                <a:latin typeface="Consolas"/>
              </a:rPr>
              <a:t>Delete the waitForTimeout. It's the cause, not a wait *for* the bug.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7548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3030"/>
                </a:solidFill>
                <a:latin typeface="Calibri"/>
              </a:rPr>
              <a:t>Band-aid to push back 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5074920"/>
            <a:ext cx="5486400" cy="50292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300" b="0" i="0" strike="sngStrike">
                <a:solidFill>
                  <a:srgbClr val="C53030"/>
                </a:solidFill>
                <a:latin typeface="Consolas"/>
              </a:rPr>
              <a:t>force: true (clicks an invisible element)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0" grpId="0"/>
      <p:bldP spid="11" grpId="0"/>
      <p:bldP spid="8" grpId="0"/>
      <p:bldP spid="9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365D"/>
                </a:solidFill>
                <a:latin typeface="Calibri"/>
              </a:rPr>
              <a:t>Test 06 — Modal Timing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84080" y="4114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200" b="1" i="0">
                <a:solidFill>
                  <a:srgbClr val="2B6CB0"/>
                </a:solidFill>
                <a:latin typeface="Calibri"/>
              </a:rPr>
              <a:t>Category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Click "Add Employee", expect modal to open.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Test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5486400" cy="1188720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await page.goto('/dashboard.html');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await page.click('#open-modal');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await expect(page.locator('#modal')).toBeVisible({ timeout: 1_500 });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3075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App source  ·  src/dashboard.js:6, 199-209  (wireModalLazy)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50792"/>
            <a:ext cx="5486400" cy="2048256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const MODAL_HANDLER_ATTACH_DELAY_MS = 2_000;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// ...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function wireModalLazy() {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setTimeout(() =&gt; {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  open.addEventListener('click', () =&gt; { ... });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}, MODAL_HANDLER_ATTACH_DELAY_MS);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Bug — what's actually wrong?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The click handler is attached 2 s after page load (setTimeout(attachListener, 2000)). The test clicks at ~50 ms — into a button with no handler.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88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3030"/>
                </a:solidFill>
                <a:latin typeface="Calibri"/>
              </a:rPr>
              <a:t>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108960"/>
            <a:ext cx="5486400" cy="54864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53030"/>
                </a:solidFill>
                <a:latin typeface="Consolas"/>
              </a:rPr>
              <a:t>Expected: visible / Received: hidden, Timeout: 1500ms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749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855A"/>
                </a:solidFill>
                <a:latin typeface="Calibri"/>
              </a:rPr>
              <a:t>Root-cause 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069080"/>
            <a:ext cx="5486400" cy="77724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F855A"/>
                </a:solidFill>
                <a:latin typeface="Consolas"/>
              </a:rPr>
              <a:t>await page.waitForFunction(() =&gt; window.__modalReady === true);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F855A"/>
                </a:solidFill>
                <a:latin typeface="Consolas"/>
              </a:rPr>
              <a:t>await page.click('#open-modal');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9834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3030"/>
                </a:solidFill>
                <a:latin typeface="Calibri"/>
              </a:rPr>
              <a:t>Band-aid to push back 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5303520"/>
            <a:ext cx="5486400" cy="50292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300" b="0" i="0" strike="sngStrike">
                <a:solidFill>
                  <a:srgbClr val="C53030"/>
                </a:solidFill>
                <a:latin typeface="Consolas"/>
              </a:rPr>
              <a:t>waitForTimeout(2500) (works until someone lazy-loads more)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0" grpId="0"/>
      <p:bldP spid="11" grpId="0"/>
      <p:bldP spid="8" grpId="0"/>
      <p:bldP spid="9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365D"/>
                </a:solidFill>
                <a:latin typeface="Calibri"/>
              </a:rPr>
              <a:t>Test 07 — Animation Mid-Flight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84080" y="4114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200" b="1" i="0">
                <a:solidFill>
                  <a:srgbClr val="2B6CB0"/>
                </a:solidFill>
                <a:latin typeface="Calibri"/>
              </a:rPr>
              <a:t>Category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Confirm stat card sits in a stable position.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Test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5486400" cy="1755648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const samples: number[] = [];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for (let i = 0; i &lt; 5; i++) {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samples.push(await card.evaluate(el =&gt; el.getBoundingClientRect().x));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await page.waitForTimeout(70);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expect(new Set(samples).size).toBe(1);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App source  ·  src/dashboard.html:104-112  (CSS)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617720"/>
            <a:ext cx="5486400" cy="2048256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.card.loaded {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animation: card-live-pulse 1.4s linear infinite;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@keyframes card-live-pulse {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25% { transform: translateX(9px); }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75% { transform: translateX(12px); }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Bug — what's actually wrong?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Card has an infinite CSS pulse (animation: card-live-pulse 1.4s linear infinite). Position is never the same twice.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88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3030"/>
                </a:solidFill>
                <a:latin typeface="Calibri"/>
              </a:rPr>
              <a:t>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108960"/>
            <a:ext cx="5486400" cy="54864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53030"/>
                </a:solidFill>
                <a:latin typeface="Consolas"/>
              </a:rPr>
              <a:t>Expected: 1 · Received: 4 (4 distinct x values across 5 samples)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749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855A"/>
                </a:solidFill>
                <a:latin typeface="Calibri"/>
              </a:rPr>
              <a:t>Root-cause 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069080"/>
            <a:ext cx="5486400" cy="54864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F855A"/>
                </a:solidFill>
                <a:latin typeface="Consolas"/>
              </a:rPr>
              <a:t>toHaveScreenshot({ animations: 'disabled' }) — or assert on the final transform keyframe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7548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3030"/>
                </a:solidFill>
                <a:latin typeface="Calibri"/>
              </a:rPr>
              <a:t>Band-aid to push back 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5074920"/>
            <a:ext cx="5486400" cy="50292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300" b="0" i="0" strike="sngStrike">
                <a:solidFill>
                  <a:srgbClr val="C53030"/>
                </a:solidFill>
                <a:latin typeface="Consolas"/>
              </a:rPr>
              <a:t>Bump tolerance until the flake stops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0" grpId="0"/>
      <p:bldP spid="11" grpId="0"/>
      <p:bldP spid="8" grpId="0"/>
      <p:bldP spid="9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365D"/>
                </a:solidFill>
                <a:latin typeface="Calibri"/>
              </a:rPr>
              <a:t>Test 08 — Viewport-Dependent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84080" y="4114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200" b="1" i="0">
                <a:solidFill>
                  <a:srgbClr val="2B6CB0"/>
                </a:solidFill>
                <a:latin typeface="Calibri"/>
              </a:rPr>
              <a:t>Category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Click the Active filter at mobile viewport.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Test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5486400" cy="1188720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await page.setViewportSize({ width: 500, height: 900 });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await page.goto('/dashboard.html');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await page.locator('#filter-active').click();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3075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App source  ·  src/dashboard.html:217-219  (CSS)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50792"/>
            <a:ext cx="5486400" cy="1554480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@media (max-width: 800px) {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.layout { flex-direction: column; }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aside.filters-sidebar { display: none; }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.mobile-menu { display: inline-flex; }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Bug — what's actually wrong?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Filter sidebar is display: none below 800 px (CSS media query). The button exists in DOM but is invisible — and Playwright won't click invisible elements.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88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3030"/>
                </a:solidFill>
                <a:latin typeface="Calibri"/>
              </a:rPr>
              <a:t>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108960"/>
            <a:ext cx="5486400" cy="54864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53030"/>
                </a:solidFill>
                <a:latin typeface="Consolas"/>
              </a:rPr>
              <a:t>Expected: visible / Received: hidden, Timeout: 2000ms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749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855A"/>
                </a:solidFill>
                <a:latin typeface="Calibri"/>
              </a:rPr>
              <a:t>Root-cause 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069080"/>
            <a:ext cx="5486400" cy="54864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F855A"/>
                </a:solidFill>
                <a:latin typeface="Consolas"/>
              </a:rPr>
              <a:t>Tap the mobile hamburger first — OR run filter tests at desktop viewport and mobile-menu tests at mobile.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7548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3030"/>
                </a:solidFill>
                <a:latin typeface="Calibri"/>
              </a:rPr>
              <a:t>Band-aid to push back 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5074920"/>
            <a:ext cx="5486400" cy="50292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300" b="0" i="0" strike="sngStrike">
                <a:solidFill>
                  <a:srgbClr val="C53030"/>
                </a:solidFill>
                <a:latin typeface="Consolas"/>
              </a:rPr>
              <a:t>click({ force: true }) on an invisible element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0" grpId="0"/>
      <p:bldP spid="11" grpId="0"/>
      <p:bldP spid="8" grpId="0"/>
      <p:bldP spid="9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365D"/>
                </a:solidFill>
                <a:latin typeface="Calibri"/>
              </a:rPr>
              <a:t>Test 09 — Iframe Load Timing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84080" y="4114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200" b="1" i="0">
                <a:solidFill>
                  <a:srgbClr val="2B6CB0"/>
                </a:solidFill>
                <a:latin typeface="Calibri"/>
              </a:rPr>
              <a:t>Category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Click "Export CSV" in the embedded analytics iframe.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Test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5486400" cy="1188720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const analytics = page.frameLocator('#analytics-iframe');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const exportBtn = analytics.locator('#analytics-export');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await expect(exportBtn).toBeVisible({ timeout: 1_500 });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3075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App source  ·  src/dashboard.js:7, 220-230  (wireIframe)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050792"/>
            <a:ext cx="5486400" cy="2048256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const IFRAME_LOAD_DELAY_MS = 2_500;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// ...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function wireIframe() {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setTimeout(() =&gt; {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  iframe.srcdoc = '&lt;!doctype html&gt;...';  // injected here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}, IFRAME_LOAD_DELAY_MS);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Bug — what's actually wrong?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Iframe srcdoc is injected by JS 2.5 s after page load. The 1.5 s assertion timeout fires first.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88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3030"/>
                </a:solidFill>
                <a:latin typeface="Calibri"/>
              </a:rPr>
              <a:t>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108960"/>
            <a:ext cx="5486400" cy="54864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53030"/>
                </a:solidFill>
                <a:latin typeface="Consolas"/>
              </a:rPr>
              <a:t>element(s) not found, Timeout: 1500ms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749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855A"/>
                </a:solidFill>
                <a:latin typeface="Calibri"/>
              </a:rPr>
              <a:t>Root-cause 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069080"/>
            <a:ext cx="5486400" cy="105156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F855A"/>
                </a:solidFill>
                <a:latin typeface="Consolas"/>
              </a:rPr>
              <a:t>await page.locator('#analytics-iframe')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F855A"/>
                </a:solidFill>
                <a:latin typeface="Consolas"/>
              </a:rPr>
              <a:t>  .contentFrame()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F855A"/>
                </a:solidFill>
                <a:latin typeface="Consolas"/>
              </a:rPr>
              <a:t>  .waitForLoadState('domcontentloaded');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2578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3030"/>
                </a:solidFill>
                <a:latin typeface="Calibri"/>
              </a:rPr>
              <a:t>Band-aid to push back 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5577840"/>
            <a:ext cx="5486400" cy="50292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300" b="0" i="0" strike="sngStrike">
                <a:solidFill>
                  <a:srgbClr val="C53030"/>
                </a:solidFill>
                <a:latin typeface="Consolas"/>
              </a:rPr>
              <a:t>waitForTimeout(3000) (couples test to iframe's load time)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0" grpId="0"/>
      <p:bldP spid="11" grpId="0"/>
      <p:bldP spid="8" grpId="0"/>
      <p:bldP spid="9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365D"/>
                </a:solidFill>
                <a:latin typeface="Calibri"/>
              </a:rPr>
              <a:t>Test 10 — Auth Token Expiry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784080" y="41148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B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36576" bIns="36576"/>
          <a:lstStyle/>
          <a:p>
            <a:pPr algn="ctr"/>
            <a:r>
              <a:rPr sz="1200" b="1" i="0">
                <a:solidFill>
                  <a:srgbClr val="2B6CB0"/>
                </a:solidFill>
                <a:latin typeface="Calibri"/>
              </a:rPr>
              <a:t>Category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Intent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7315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F2933"/>
                </a:solidFill>
                <a:latin typeface="Calibri"/>
              </a:rPr>
              <a:t>After reading the dashboard for a few seconds, click Refresh.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5740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Test code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377440"/>
            <a:ext cx="5486400" cy="1508760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await page.goto('/dashboard.html');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await page.locator('.user-row').first().waitFor();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await page.waitForTimeout(6_000);   // "simulate user reading"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await page.click('#refresh');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await expect(page.locator('#status')).toContainText('Refreshed at');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050792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App source  ·  src/dashboard.js:4, 20-26 + 179-189  (session + refresh)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4370832"/>
            <a:ext cx="5486400" cy="1801368"/>
          </a:xfrm>
          <a:prstGeom prst="roundRect">
            <a:avLst/>
          </a:prstGeom>
          <a:solidFill>
            <a:srgbClr val="1A20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const SESSION_TTL_MS = 5_000;   // only 5 seconds!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// initSession():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localStorage.setItem('session_expires',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  String(Date.now() + SESSION_TTL_MS));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// wireRefresh():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2E8F0"/>
                </a:solidFill>
                <a:latin typeface="Consolas"/>
              </a:rPr>
              <a:t>if (Date.now() &gt; expires) setStatus('Session expired...');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05156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B6CB0"/>
                </a:solidFill>
                <a:latin typeface="Calibri"/>
              </a:rPr>
              <a:t>Bug — what's actually wrong?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371600"/>
            <a:ext cx="54864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Session token is set with a 5 s TTL on page load. The 6 s wait crosses it. Refresh button checks the token, finds it expired, shows "Session expired."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78892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3030"/>
                </a:solidFill>
                <a:latin typeface="Calibri"/>
              </a:rPr>
              <a:t>Error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3108960"/>
            <a:ext cx="5486400" cy="54864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53030"/>
                </a:solidFill>
                <a:latin typeface="Consolas"/>
              </a:rPr>
              <a:t>Expected: "Refreshed at" / Received: "Session expired. Please log in."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74904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F855A"/>
                </a:solidFill>
                <a:latin typeface="Calibri"/>
              </a:rPr>
              <a:t>Root-cause fix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5080" y="4069080"/>
            <a:ext cx="5486400" cy="548640"/>
          </a:xfrm>
          <a:prstGeom prst="roundRect">
            <a:avLst/>
          </a:prstGeom>
          <a:solidFill>
            <a:srgbClr val="F0F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2F855A"/>
                </a:solidFill>
                <a:latin typeface="Consolas"/>
              </a:rPr>
              <a:t>Mock the auth state, or refresh the token mid-test. Don't simulate "user thinking time" with waitForTimeout.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754880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3030"/>
                </a:solidFill>
                <a:latin typeface="Calibri"/>
              </a:rPr>
              <a:t>Band-aid to push back 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5074920"/>
            <a:ext cx="5486400" cy="502920"/>
          </a:xfrm>
          <a:prstGeom prst="roundRect">
            <a:avLst/>
          </a:prstGeom>
          <a:solidFill>
            <a:srgbClr val="FE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>
              <a:spcAft>
                <a:spcPts val="0"/>
              </a:spcAft>
            </a:pPr>
            <a:r>
              <a:rPr sz="1300" b="0" i="0" strike="sngStrike">
                <a:solidFill>
                  <a:srgbClr val="C53030"/>
                </a:solidFill>
                <a:latin typeface="Consolas"/>
              </a:rPr>
              <a:t>Bump the token TTL to a bigger number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10" grpId="0"/>
      <p:bldP spid="11" grpId="0"/>
      <p:bldP spid="8" grpId="0"/>
      <p:bldP spid="9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365D"/>
                </a:solidFill>
                <a:latin typeface="Calibri"/>
              </a:rPr>
              <a:t>The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1">
                <a:solidFill>
                  <a:srgbClr val="2B6CB0"/>
                </a:solidFill>
                <a:latin typeface="Calibri"/>
              </a:rPr>
              <a:t>For every flake, the Healer faces three paths.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200400"/>
                <a:gridCol w="2743200"/>
                <a:gridCol w="3383280"/>
              </a:tblGrid>
              <a:tr h="399010">
                <a:tc>
                  <a:txBody>
                    <a:bodyPr rIns="73152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Category</a:t>
                      </a:r>
                    </a:p>
                  </a:txBody>
                  <a:tcPr>
                    <a:solidFill>
                      <a:srgbClr val="1A365D"/>
                    </a:solidFill>
                  </a:tcPr>
                </a:tc>
                <a:tc>
                  <a:txBody>
                    <a:bodyPr rIns="73152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Band-aid (avoid)</a:t>
                      </a:r>
                    </a:p>
                  </a:txBody>
                  <a:tcPr>
                    <a:solidFill>
                      <a:srgbClr val="C53030"/>
                    </a:solidFill>
                  </a:tcPr>
                </a:tc>
                <a:tc>
                  <a:txBody>
                    <a:bodyPr rIns="73152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Workaround</a:t>
                      </a:r>
                    </a:p>
                  </a:txBody>
                  <a:tcPr>
                    <a:solidFill>
                      <a:srgbClr val="976616"/>
                    </a:solidFill>
                  </a:tcPr>
                </a:tc>
                <a:tc>
                  <a:txBody>
                    <a:bodyPr rIns="73152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Calibri"/>
                        </a:rPr>
                        <a:t>Root cause</a:t>
                      </a:r>
                    </a:p>
                  </a:txBody>
                  <a:tcPr>
                    <a:solidFill>
                      <a:srgbClr val="2F855A"/>
                    </a:solidFill>
                  </a:tcPr>
                </a:tc>
              </a:tr>
              <a:tr h="399010"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4F6FA"/>
                    </a:solidFill>
                  </a:tcPr>
                </a:tc>
              </a:tr>
              <a:tr h="399010"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4F6FA"/>
                    </a:solidFill>
                  </a:tcPr>
                </a:tc>
              </a:tr>
              <a:tr h="399010"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4F6FA"/>
                    </a:solidFill>
                  </a:tcPr>
                </a:tc>
              </a:tr>
              <a:tr h="399010"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4F6FA"/>
                    </a:solidFill>
                  </a:tcPr>
                </a:tc>
              </a:tr>
              <a:tr h="399010"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399020"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4F6FA"/>
                    </a:solidFill>
                  </a:tcPr>
                </a:tc>
                <a:tc>
                  <a:txBody>
                    <a:bodyPr rIns="73152" tIns="27432" bIns="27432"/>
                    <a:lstStyle/>
                    <a:p/>
                  </a:txBody>
                  <a:tcPr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943600"/>
            <a:ext cx="11247120" cy="68580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73152" bIns="73152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Your job: spot the band-aid on the first try. Push back. Demand the root-cause fix.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Race (01)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1828800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strike="sngStrike">
                <a:solidFill>
                  <a:srgbClr val="C53030"/>
                </a:solidFill>
                <a:latin typeface="Consolas"/>
              </a:rPr>
              <a:t>waitForTimeout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1828800"/>
            <a:ext cx="265176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wait for row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66760" y="1828800"/>
            <a:ext cx="329184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855A"/>
                </a:solidFill>
                <a:latin typeface="Consolas"/>
              </a:rPr>
              <a:t>waitForResponse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21992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Locator (02)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2221992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strike="sngStrike">
                <a:solidFill>
                  <a:srgbClr val="C53030"/>
                </a:solidFill>
                <a:latin typeface="Consolas"/>
              </a:rPr>
              <a:t>force: true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23560" y="2221992"/>
            <a:ext cx="265176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nth-child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2221992"/>
            <a:ext cx="329184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855A"/>
                </a:solidFill>
                <a:latin typeface="Consolas"/>
              </a:rPr>
              <a:t>semantic selector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615184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Jitter (03)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2615184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strike="sngStrike">
                <a:solidFill>
                  <a:srgbClr val="C53030"/>
                </a:solidFill>
                <a:latin typeface="Consolas"/>
              </a:rPr>
              <a:t>bump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23560" y="2615184"/>
            <a:ext cx="265176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retry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615184"/>
            <a:ext cx="329184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855A"/>
                </a:solidFill>
                <a:latin typeface="Consolas"/>
              </a:rPr>
              <a:t>move to observability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08376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Time (04)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3008376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strike="sngStrike">
                <a:solidFill>
                  <a:srgbClr val="C53030"/>
                </a:solidFill>
                <a:latin typeface="Consolas"/>
              </a:rPr>
              <a:t>run only at midnight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23560" y="3008376"/>
            <a:ext cx="265176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mock 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3008376"/>
            <a:ext cx="329184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855A"/>
                </a:solidFill>
                <a:latin typeface="Consolas"/>
              </a:rPr>
              <a:t>page.clock.install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401568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Hover (05)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3401568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strike="sngStrike">
                <a:solidFill>
                  <a:srgbClr val="C53030"/>
                </a:solidFill>
                <a:latin typeface="Consolas"/>
              </a:rPr>
              <a:t>force: true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401568"/>
            <a:ext cx="265176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re-hover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401568"/>
            <a:ext cx="329184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855A"/>
                </a:solidFill>
                <a:latin typeface="Consolas"/>
              </a:rPr>
              <a:t>delete the wait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794760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Modal (06)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3794760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strike="sngStrike">
                <a:solidFill>
                  <a:srgbClr val="C53030"/>
                </a:solidFill>
                <a:latin typeface="Consolas"/>
              </a:rPr>
              <a:t>waitForTimeout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3794760"/>
            <a:ext cx="265176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retry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3794760"/>
            <a:ext cx="329184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855A"/>
                </a:solidFill>
                <a:latin typeface="Consolas"/>
              </a:rPr>
              <a:t>waitForFunction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4187952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Animation (07)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187952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strike="sngStrike">
                <a:solidFill>
                  <a:srgbClr val="C53030"/>
                </a:solidFill>
                <a:latin typeface="Consolas"/>
              </a:rPr>
              <a:t>bump tolerance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23560" y="4187952"/>
            <a:ext cx="265176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retry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6760" y="4187952"/>
            <a:ext cx="329184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855A"/>
                </a:solidFill>
                <a:latin typeface="Consolas"/>
              </a:rPr>
              <a:t>disable animations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581144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Viewport (08)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23160" y="4581144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strike="sngStrike">
                <a:solidFill>
                  <a:srgbClr val="C53030"/>
                </a:solidFill>
                <a:latin typeface="Consolas"/>
              </a:rPr>
              <a:t>force: true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23560" y="4581144"/>
            <a:ext cx="265176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skip on mobile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4581144"/>
            <a:ext cx="329184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855A"/>
                </a:solidFill>
                <a:latin typeface="Consolas"/>
              </a:rPr>
              <a:t>reorganize suite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4974336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Iframe (09)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423160" y="4974336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strike="sngStrike">
                <a:solidFill>
                  <a:srgbClr val="C53030"/>
                </a:solidFill>
                <a:latin typeface="Consolas"/>
              </a:rPr>
              <a:t>waitForTimeout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23560" y="4974336"/>
            <a:ext cx="265176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poll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4974336"/>
            <a:ext cx="329184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855A"/>
                </a:solidFill>
                <a:latin typeface="Consolas"/>
              </a:rPr>
              <a:t>waitForLoadState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5367528"/>
            <a:ext cx="182880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F2933"/>
                </a:solidFill>
                <a:latin typeface="Calibri"/>
              </a:rPr>
              <a:t>Auth (10)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23160" y="5367528"/>
            <a:ext cx="310896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 strike="sngStrike">
                <a:solidFill>
                  <a:srgbClr val="C53030"/>
                </a:solidFill>
                <a:latin typeface="Consolas"/>
              </a:rPr>
              <a:t>longer TTL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3560" y="5367528"/>
            <a:ext cx="265176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1F2933"/>
                </a:solidFill>
                <a:latin typeface="Calibri"/>
              </a:rPr>
              <a:t>re-login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60" y="5367528"/>
            <a:ext cx="3291840" cy="39319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F855A"/>
                </a:solidFill>
                <a:latin typeface="Consolas"/>
              </a:rPr>
              <a:t>mock auth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  <p:bldP spid="40" grpId="0"/>
      <p:bldP spid="41" grpId="0"/>
      <p:bldP spid="42" grpId="0"/>
      <p:bldP spid="43" grpId="0"/>
      <p:bldP spid="44" grpId="0"/>
      <p:bldP spid="45" grpId="0"/>
      <p:bldP spid="5" grpId="0"/>
    </p:bld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8580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A365D"/>
                </a:solidFill>
                <a:latin typeface="Calibri"/>
              </a:rPr>
              <a:t>What this episode demonstrates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10972800" cy="42062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/>
          <a:lstStyle/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2000" b="1" i="0">
                <a:solidFill>
                  <a:srgbClr val="2B6CB0"/>
                </a:solidFill>
                <a:latin typeface="Calibri"/>
              </a:rPr>
              <a:t>About the Healer agent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  •  It diagnoses flaky-test category correctly almost every time.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  •  It writes the right pattern (waitForResponse, semantic locators, etc.) when nudged.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  •  It defaults to waitForTimeout on the race condition ~60% of the time — that's the trust earner.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/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2000" b="1" i="0">
                <a:solidFill>
                  <a:srgbClr val="2B6CB0"/>
                </a:solidFill>
                <a:latin typeface="Calibri"/>
              </a:rPr>
              <a:t>About QA in 2026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  •  AI doesn't replace the judgment of "is this fix actually solving the problem?"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  •  The skill that matters: reviewing AI-generated test fixes like you'd review a junior engineer's PR.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F2933"/>
                </a:solidFill>
                <a:latin typeface="Calibri"/>
              </a:rPr>
              <a:t>  •  The Healer is a tool, not a teammate. You ratify its work.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532120"/>
            <a:ext cx="11247120" cy="1051560"/>
          </a:xfrm>
          <a:prstGeom prst="roundRect">
            <a:avLst/>
          </a:prstGeom>
          <a:solidFill>
            <a:srgbClr val="1A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rIns="274320" tIns="109728" bIns="109728"/>
          <a:lstStyle/>
          <a:p>
            <a:pPr algn="ctr"/>
            <a:r>
              <a:rPr sz="2200" b="1" i="0">
                <a:solidFill>
                  <a:srgbClr val="FFFFFF"/>
                </a:solidFill>
                <a:latin typeface="Consolas"/>
              </a:rPr>
              <a:t>github.com/JagadeeshJayachandran/playwright-flaky-fix</a:t>
            </a:r>
          </a:p>
          <a:p>
            <a:pPr algn="ctr">
              <a:spcBef>
                <a:spcPts val="600"/>
              </a:spcBef>
            </a:pPr>
            <a:r>
              <a:rPr sz="1600" b="0" i="1">
                <a:solidFill>
                  <a:srgbClr val="CADCFC"/>
                </a:solidFill>
                <a:latin typeface="Calibri"/>
              </a:rPr>
              <a:t>Subscribe — next episode drops Sunday.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